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Bold" charset="1" panose="02020803070505020304"/>
      <p:regular r:id="rId16"/>
    </p:embeddedFont>
    <p:embeddedFont>
      <p:font typeface="Times New Roman" charset="1" panose="020206030504050203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60117" y="4341557"/>
            <a:ext cx="12067731" cy="5430479"/>
          </a:xfrm>
          <a:custGeom>
            <a:avLst/>
            <a:gdLst/>
            <a:ahLst/>
            <a:cxnLst/>
            <a:rect r="r" b="b" t="t" l="l"/>
            <a:pathLst>
              <a:path h="5430479" w="12067731">
                <a:moveTo>
                  <a:pt x="0" y="0"/>
                </a:moveTo>
                <a:lnTo>
                  <a:pt x="12067732" y="0"/>
                </a:lnTo>
                <a:lnTo>
                  <a:pt x="12067732" y="5430479"/>
                </a:lnTo>
                <a:lnTo>
                  <a:pt x="0" y="543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25083" y="155020"/>
            <a:ext cx="2837833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Bá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 cáo giữa kì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48886" y="1092549"/>
            <a:ext cx="11344318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essibility testing (WCAG cơ bản) + checklist + đề xuất fix.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3262" y="2828792"/>
            <a:ext cx="9811920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Người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trình bày: Nguyễn Phú Thọ - Lớp CNPM2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5002" y="1915489"/>
            <a:ext cx="6936348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GVHD: Th.S Phạm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Trọng Huynh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5002" y="3742096"/>
            <a:ext cx="4884220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 testing: BookSaw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32820" y="213980"/>
            <a:ext cx="4222360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Tổ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 quan &amp; Mục tiêu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13112"/>
            <a:ext cx="15349118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Vấn đề: Đánh giá website Booksaw Template từ trạng thái "đẹp nhưng khó dù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ng" sang đạt chuẩn quốc tế hỗ trợ người khuyết tật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11107"/>
            <a:ext cx="15349118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Tiêu chuẩn: Áp dụ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 chuẩn WCAG 2.1 AA của W3C với 28 test cases.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505893"/>
            <a:ext cx="15349118" cy="239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 chính: Kiểm tra 4 nguyên tắc POUR: Perceivable, Operable, Understandable, Robust.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 điểm số Lighthouse Accessibility từ 65 lên trên 90 điểm.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Phát hiện lỗi, đề xuất fix và hoàn thiện checklist Excel.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59826" y="213980"/>
            <a:ext cx="4768347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ạm vi kiểm thử (Scope)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797726" y="1153229"/>
            <a:ext cx="16473839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In-Scope (Trong ph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ạm vi): * Kiểm thử 100% trang chủ index.html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6305" y="2092477"/>
            <a:ext cx="16991695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 test cases (WCAG 2.1 AA).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nhó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chức năng: Logo, Tìm kiếm, Giỏ hàng, Menu dropdown, Lưới sản phẩm, Slider.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320756"/>
            <a:ext cx="16473839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Out-Scope (Ngoài ph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ạm vi): Backend API, Mobile app, Hiệu năng (Performance), Bảo mật (Security)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322873"/>
            <a:ext cx="16473839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Đối tượng mô phỏng: Người mù (dùng screen reader), người già (cần zoom, màu rõ), người khuyết tật tay (chỉ dùng bàn phím).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98745" y="139193"/>
            <a:ext cx="5890511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iến lược &amp; Công cụ kiểm thử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6305" y="1338609"/>
            <a:ext cx="14604168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ương pháp: Kiểm thử hộp đen (Black-box Testing).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6305" y="2388451"/>
            <a:ext cx="14604168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Chiến l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ược: Kết hợp Automated Testing (quét tự động), Manual Testing (thủ công) và Exploratory Testing.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6305" y="4512160"/>
            <a:ext cx="14604168" cy="239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 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cụ chính: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axe DevTools &amp; Lighthouse: Quét lỗi tự động (phát hiện 80% lỗi).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F12 Elements &amp; Bàn phím (Tab): Kiểm tra HTML và điều hướng.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3961675"/>
            <a:ext cx="8853524" cy="4393561"/>
          </a:xfrm>
          <a:custGeom>
            <a:avLst/>
            <a:gdLst/>
            <a:ahLst/>
            <a:cxnLst/>
            <a:rect r="r" b="b" t="t" l="l"/>
            <a:pathLst>
              <a:path h="4393561" w="8853524">
                <a:moveTo>
                  <a:pt x="0" y="0"/>
                </a:moveTo>
                <a:lnTo>
                  <a:pt x="8853524" y="0"/>
                </a:lnTo>
                <a:lnTo>
                  <a:pt x="8853524" y="4393562"/>
                </a:lnTo>
                <a:lnTo>
                  <a:pt x="0" y="4393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04050" y="263838"/>
            <a:ext cx="6879899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quả thực thi Test Cases (Manual)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55649" y="1388467"/>
            <a:ext cx="10558187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số ca kiểm thử: 28 test cases (chia đều 4 nhóm POUR).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55649" y="2511803"/>
            <a:ext cx="12710879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Tỷ lệ đạt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(Pass Rate): Chỉ 25% (7/28 cases Passed), 20 Failed, 1 Skipped.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55649" y="3362214"/>
            <a:ext cx="5396401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 tiết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tỷ lệ Failed theo nhóm: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9492" y="4209325"/>
            <a:ext cx="8884508" cy="239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Perceivable (Nhận thức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được): 86% FAIL.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Operable (Vận hành được): 71% FAIL.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Understandable (Hiểu được): 57% FAIL.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(Mạnh mẽ): 71% FAIL.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05819" y="1177666"/>
            <a:ext cx="8453481" cy="3539895"/>
          </a:xfrm>
          <a:custGeom>
            <a:avLst/>
            <a:gdLst/>
            <a:ahLst/>
            <a:cxnLst/>
            <a:rect r="r" b="b" t="t" l="l"/>
            <a:pathLst>
              <a:path h="3539895" w="8453481">
                <a:moveTo>
                  <a:pt x="0" y="0"/>
                </a:moveTo>
                <a:lnTo>
                  <a:pt x="8453481" y="0"/>
                </a:lnTo>
                <a:lnTo>
                  <a:pt x="8453481" y="3539895"/>
                </a:lnTo>
                <a:lnTo>
                  <a:pt x="0" y="3539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05819" y="5031886"/>
            <a:ext cx="8307045" cy="3634332"/>
          </a:xfrm>
          <a:custGeom>
            <a:avLst/>
            <a:gdLst/>
            <a:ahLst/>
            <a:cxnLst/>
            <a:rect r="r" b="b" t="t" l="l"/>
            <a:pathLst>
              <a:path h="3634332" w="8307045">
                <a:moveTo>
                  <a:pt x="0" y="0"/>
                </a:moveTo>
                <a:lnTo>
                  <a:pt x="8307046" y="0"/>
                </a:lnTo>
                <a:lnTo>
                  <a:pt x="8307046" y="3634332"/>
                </a:lnTo>
                <a:lnTo>
                  <a:pt x="0" y="3634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04050" y="263838"/>
            <a:ext cx="6879899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quả thực thi Test Cases (Manual)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91941"/>
            <a:ext cx="5435120" cy="239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 Testing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Perceivable: Kiểm thử Khả năng tiếp cận - Nhận thức được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390445"/>
            <a:ext cx="5435120" cy="299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 Testing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Operable Principle: Kiểm thử Khả năng tiếp cận - Nguyên tắc Vận hành được.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23510" y="1028700"/>
            <a:ext cx="8071665" cy="3854220"/>
          </a:xfrm>
          <a:custGeom>
            <a:avLst/>
            <a:gdLst/>
            <a:ahLst/>
            <a:cxnLst/>
            <a:rect r="r" b="b" t="t" l="l"/>
            <a:pathLst>
              <a:path h="3854220" w="8071665">
                <a:moveTo>
                  <a:pt x="0" y="0"/>
                </a:moveTo>
                <a:lnTo>
                  <a:pt x="8071664" y="0"/>
                </a:lnTo>
                <a:lnTo>
                  <a:pt x="8071664" y="3854220"/>
                </a:lnTo>
                <a:lnTo>
                  <a:pt x="0" y="3854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3510" y="5143500"/>
            <a:ext cx="8225192" cy="3434018"/>
          </a:xfrm>
          <a:custGeom>
            <a:avLst/>
            <a:gdLst/>
            <a:ahLst/>
            <a:cxnLst/>
            <a:rect r="r" b="b" t="t" l="l"/>
            <a:pathLst>
              <a:path h="3434018" w="8225192">
                <a:moveTo>
                  <a:pt x="0" y="0"/>
                </a:moveTo>
                <a:lnTo>
                  <a:pt x="8225191" y="0"/>
                </a:lnTo>
                <a:lnTo>
                  <a:pt x="8225191" y="3434018"/>
                </a:lnTo>
                <a:lnTo>
                  <a:pt x="0" y="3434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04050" y="263838"/>
            <a:ext cx="6879899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quả thực thi Test Cases (Manual)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057775"/>
            <a:ext cx="5435120" cy="239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 Testing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Robust Principle: Kiểm thử Khả năng tiếp cận - Nguyên tắc Mạnh mẽ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91941"/>
            <a:ext cx="5435120" cy="299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 Testing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UNDERSTANDABLE:  Kiểm thử Khả năng tiếp cận - Nguyên tắc Hiểu được.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028700"/>
            <a:ext cx="8333997" cy="3531531"/>
          </a:xfrm>
          <a:custGeom>
            <a:avLst/>
            <a:gdLst/>
            <a:ahLst/>
            <a:cxnLst/>
            <a:rect r="r" b="b" t="t" l="l"/>
            <a:pathLst>
              <a:path h="3531531" w="8333997">
                <a:moveTo>
                  <a:pt x="0" y="0"/>
                </a:moveTo>
                <a:lnTo>
                  <a:pt x="8333997" y="0"/>
                </a:lnTo>
                <a:lnTo>
                  <a:pt x="8333997" y="3531531"/>
                </a:lnTo>
                <a:lnTo>
                  <a:pt x="0" y="3531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87612" y="5108438"/>
            <a:ext cx="8646774" cy="3880240"/>
          </a:xfrm>
          <a:custGeom>
            <a:avLst/>
            <a:gdLst/>
            <a:ahLst/>
            <a:cxnLst/>
            <a:rect r="r" b="b" t="t" l="l"/>
            <a:pathLst>
              <a:path h="3880240" w="8646774">
                <a:moveTo>
                  <a:pt x="0" y="0"/>
                </a:moveTo>
                <a:lnTo>
                  <a:pt x="8646774" y="0"/>
                </a:lnTo>
                <a:lnTo>
                  <a:pt x="8646774" y="3880239"/>
                </a:lnTo>
                <a:lnTo>
                  <a:pt x="0" y="3880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16068" y="429239"/>
            <a:ext cx="7455864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quả Automation Test (Quét tự động)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3732" y="1659859"/>
            <a:ext cx="6903825" cy="1799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axe DevTools: Phát h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iện 67 lỗi chỉ trong 5 giây. Bao gồm 8 lỗi Critical và 59 lỗi Serious.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3732" y="5248904"/>
            <a:ext cx="7302688" cy="1799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Lighthouse: Điểm Accessibility đạt 65/100, phát h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iện 30 issues tổng quan (chi tiết 68 lỗi).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527634"/>
            <a:ext cx="7302688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 xét: Tỷ lệ trùng lặp lỗ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giữa hai công cụ lên tới 95%.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24553" y="429239"/>
            <a:ext cx="7238894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Báo cáo Lỗ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 &amp; Độ ưu tiên (Bug Report)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28939"/>
            <a:ext cx="10795568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 số lỗi duy nhất: 83 lỗi (Kết hợp Axe và Lighthouse).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29491"/>
            <a:ext cx="3148034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loại mức độ: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8042" y="3433778"/>
            <a:ext cx="11511537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(12 lỗi): Lỗi ARIA inputs, sai Role, Invalid ARIA.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8042" y="4233264"/>
            <a:ext cx="17129958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SERIOUS (67 lỗi): Độ tương phản thấp (30+ lỗi), thiếu Text Links (18+ lỗi), ẩn phần tử sai (aria-hidden).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8042" y="5632847"/>
            <a:ext cx="11178800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MODERATE (4 lỗi ): Sai thứ tự thẻ Heading, thiếu thẻ main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64638" y="213980"/>
            <a:ext cx="5710004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Tổ</a:t>
            </a: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 kết &amp; Đề xuất hành động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89035"/>
            <a:ext cx="16497096" cy="119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 giá: Giao diện Bootstrap responsive tốt, tuy nhiên khả năng tiếp cận (Accessibility) hiện tại chưa đạt chuẩn do sai sót nhiều về HTML và ARIA.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5452" y="3360164"/>
            <a:ext cx="16497096" cy="59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xuất hành động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544039"/>
            <a:ext cx="16497096" cy="1799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Developer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cần ưu tiên khắc phục ngay 4 lỗi CRITICAL (form labels, ARIA invalid).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 hiện Retest và Re-scan Lighthouse để đảm bảo điểm &gt;90.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Bàn giao checklist Excel chuẩn WCAG cho team để tái sử dụng ở dự án sau.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DAHELl_9EQg</dc:identifier>
  <dcterms:modified xsi:type="dcterms:W3CDTF">2011-08-01T06:04:30Z</dcterms:modified>
  <cp:revision>1</cp:revision>
  <dc:title>Nội dung đoạn văn bản của bạn</dc:title>
</cp:coreProperties>
</file>