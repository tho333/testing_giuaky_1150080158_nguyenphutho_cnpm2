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imes New Roman Bold" charset="1" panose="02020803070505020304"/>
      <p:regular r:id="rId16"/>
    </p:embeddedFont>
    <p:embeddedFont>
      <p:font typeface="Times New Roman" charset="1" panose="020206030504050203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60117" y="4341557"/>
            <a:ext cx="12067731" cy="5430479"/>
          </a:xfrm>
          <a:custGeom>
            <a:avLst/>
            <a:gdLst/>
            <a:ahLst/>
            <a:cxnLst/>
            <a:rect r="r" b="b" t="t" l="l"/>
            <a:pathLst>
              <a:path h="5430479" w="12067731">
                <a:moveTo>
                  <a:pt x="0" y="0"/>
                </a:moveTo>
                <a:lnTo>
                  <a:pt x="12067732" y="0"/>
                </a:lnTo>
                <a:lnTo>
                  <a:pt x="12067732" y="5430479"/>
                </a:lnTo>
                <a:lnTo>
                  <a:pt x="0" y="5430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25083" y="155020"/>
            <a:ext cx="2837833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Bá</a:t>
            </a: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 cáo giữa kì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48886" y="1092549"/>
            <a:ext cx="11344318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Acc</a:t>
            </a: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essibility testing (WCAG cơ bản) + checklist + đề xuất fix.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3262" y="2828792"/>
            <a:ext cx="9811920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Người</a:t>
            </a: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trình bày: Nguyễn Phú Thọ - Lớp CNPM2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5002" y="1915489"/>
            <a:ext cx="6936348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GVHD: Th.S Phạm</a:t>
            </a: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Trọng Huynh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5002" y="3742096"/>
            <a:ext cx="4884220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Web testing: BookSaw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3652" y="5423113"/>
            <a:ext cx="6323500" cy="4220936"/>
          </a:xfrm>
          <a:custGeom>
            <a:avLst/>
            <a:gdLst/>
            <a:ahLst/>
            <a:cxnLst/>
            <a:rect r="r" b="b" t="t" l="l"/>
            <a:pathLst>
              <a:path h="4220936" w="6323500">
                <a:moveTo>
                  <a:pt x="0" y="0"/>
                </a:moveTo>
                <a:lnTo>
                  <a:pt x="6323500" y="0"/>
                </a:lnTo>
                <a:lnTo>
                  <a:pt x="6323500" y="4220937"/>
                </a:lnTo>
                <a:lnTo>
                  <a:pt x="0" y="42209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73098" y="5756488"/>
            <a:ext cx="3563383" cy="3563383"/>
          </a:xfrm>
          <a:custGeom>
            <a:avLst/>
            <a:gdLst/>
            <a:ahLst/>
            <a:cxnLst/>
            <a:rect r="r" b="b" t="t" l="l"/>
            <a:pathLst>
              <a:path h="3563383" w="3563383">
                <a:moveTo>
                  <a:pt x="0" y="0"/>
                </a:moveTo>
                <a:lnTo>
                  <a:pt x="3563382" y="0"/>
                </a:lnTo>
                <a:lnTo>
                  <a:pt x="3563382" y="3563383"/>
                </a:lnTo>
                <a:lnTo>
                  <a:pt x="0" y="3563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77618" y="5974994"/>
            <a:ext cx="5674677" cy="3189169"/>
          </a:xfrm>
          <a:custGeom>
            <a:avLst/>
            <a:gdLst/>
            <a:ahLst/>
            <a:cxnLst/>
            <a:rect r="r" b="b" t="t" l="l"/>
            <a:pathLst>
              <a:path h="3189169" w="5674677">
                <a:moveTo>
                  <a:pt x="0" y="0"/>
                </a:moveTo>
                <a:lnTo>
                  <a:pt x="5674677" y="0"/>
                </a:lnTo>
                <a:lnTo>
                  <a:pt x="5674677" y="3189169"/>
                </a:lnTo>
                <a:lnTo>
                  <a:pt x="0" y="31891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27200" y="5833396"/>
            <a:ext cx="6212741" cy="3486475"/>
          </a:xfrm>
          <a:custGeom>
            <a:avLst/>
            <a:gdLst/>
            <a:ahLst/>
            <a:cxnLst/>
            <a:rect r="r" b="b" t="t" l="l"/>
            <a:pathLst>
              <a:path h="3486475" w="6212741">
                <a:moveTo>
                  <a:pt x="0" y="0"/>
                </a:moveTo>
                <a:lnTo>
                  <a:pt x="6212741" y="0"/>
                </a:lnTo>
                <a:lnTo>
                  <a:pt x="6212741" y="3486475"/>
                </a:lnTo>
                <a:lnTo>
                  <a:pt x="0" y="34864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37096" y="213980"/>
            <a:ext cx="2813808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Mục tiêu dự án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316224"/>
            <a:ext cx="15349118" cy="119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Vấn đề: Khả năng tiếp cận (Accessibility) không chỉ nằm ở giao diệ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n, mà phải chuẩn từ cấu trúc mã nguồn.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020607"/>
            <a:ext cx="15349118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Mục tiêu chính: Rà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soát trực tiếp các file source code (HTML, CSS, JS).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795566"/>
            <a:ext cx="15349118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át hiện các đoạn code vi phạm tiêu chuẩn WCAG 2.1 AA.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566477"/>
            <a:ext cx="15349118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Đưa ra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giải pháp Refactor (viết lại) code để xử lý triệt để 83 lỗi tồn đọng.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82839" y="6145018"/>
            <a:ext cx="6004923" cy="3369851"/>
          </a:xfrm>
          <a:custGeom>
            <a:avLst/>
            <a:gdLst/>
            <a:ahLst/>
            <a:cxnLst/>
            <a:rect r="r" b="b" t="t" l="l"/>
            <a:pathLst>
              <a:path h="3369851" w="6004923">
                <a:moveTo>
                  <a:pt x="0" y="0"/>
                </a:moveTo>
                <a:lnTo>
                  <a:pt x="6004923" y="0"/>
                </a:lnTo>
                <a:lnTo>
                  <a:pt x="6004923" y="3369851"/>
                </a:lnTo>
                <a:lnTo>
                  <a:pt x="0" y="33698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5900238" y="213980"/>
            <a:ext cx="6487524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Phương</a:t>
            </a: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pháp Kiểm thử Hộp Trắng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7080" y="1182874"/>
            <a:ext cx="16473839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Đặc điểm: Không đánh giá qua giao d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iện người dùng, đi thẳng vào cấu trúc và logic bên trong.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7080" y="2153811"/>
            <a:ext cx="16473839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Kỹ thuật áp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dụng: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4165" y="3124747"/>
            <a:ext cx="16473839" cy="119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Code Analysis (Phân tích tĩnh): Đọc code HTML/CSS xem có đúng chuẩn ngữ nghĩa (Semantic) không.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4165" y="4695780"/>
            <a:ext cx="16473839" cy="119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 Review (Kiểm tra logic): Đọc file JavaScript kiểm tra các hàm xử lý sự kiện và cập nhật trạng thái ARIA.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303371"/>
            <a:ext cx="14794629" cy="2644540"/>
          </a:xfrm>
          <a:custGeom>
            <a:avLst/>
            <a:gdLst/>
            <a:ahLst/>
            <a:cxnLst/>
            <a:rect r="r" b="b" t="t" l="l"/>
            <a:pathLst>
              <a:path h="2644540" w="14794629">
                <a:moveTo>
                  <a:pt x="0" y="0"/>
                </a:moveTo>
                <a:lnTo>
                  <a:pt x="14794629" y="0"/>
                </a:lnTo>
                <a:lnTo>
                  <a:pt x="14794629" y="2644540"/>
                </a:lnTo>
                <a:lnTo>
                  <a:pt x="0" y="2644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47781" y="139193"/>
            <a:ext cx="9392437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Phâ</a:t>
            </a: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 tích Mã nguồn - Lỗi thiếu nhãn Form (Input)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378372"/>
            <a:ext cx="14604168" cy="119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Lỗi (Cri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tical): Thẻ &lt;input&gt; tìm kiếm được code trơ trọi, không có thẻ &lt;label&gt; hoặc thuộc tính aria-label đi kèm. Trình đọc màn hình (NVDA) sẽ bị "mù" khi vào ô này.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85418" y="3411904"/>
            <a:ext cx="13784121" cy="3066967"/>
          </a:xfrm>
          <a:custGeom>
            <a:avLst/>
            <a:gdLst/>
            <a:ahLst/>
            <a:cxnLst/>
            <a:rect r="r" b="b" t="t" l="l"/>
            <a:pathLst>
              <a:path h="3066967" w="13784121">
                <a:moveTo>
                  <a:pt x="0" y="0"/>
                </a:moveTo>
                <a:lnTo>
                  <a:pt x="13784121" y="0"/>
                </a:lnTo>
                <a:lnTo>
                  <a:pt x="13784121" y="3066967"/>
                </a:lnTo>
                <a:lnTo>
                  <a:pt x="0" y="3066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70130" y="263838"/>
            <a:ext cx="10147740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Phân</a:t>
            </a: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tích Mã nguồn - Lỗi Liên kết rỗng (Empty Links)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388467"/>
            <a:ext cx="17259300" cy="119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Lỗi (Serious): Home và Page sản phẩm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được bọc bởi thẻ &lt;a&gt; (link), nhưng bên trong chỉ chứa hình ảnh &lt;svg&gt;, hoàn toàn không có text mô tả, và đích đến.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434185"/>
            <a:ext cx="16022525" cy="2423407"/>
          </a:xfrm>
          <a:custGeom>
            <a:avLst/>
            <a:gdLst/>
            <a:ahLst/>
            <a:cxnLst/>
            <a:rect r="r" b="b" t="t" l="l"/>
            <a:pathLst>
              <a:path h="2423407" w="16022525">
                <a:moveTo>
                  <a:pt x="0" y="0"/>
                </a:moveTo>
                <a:lnTo>
                  <a:pt x="16022525" y="0"/>
                </a:lnTo>
                <a:lnTo>
                  <a:pt x="16022525" y="2423407"/>
                </a:lnTo>
                <a:lnTo>
                  <a:pt x="0" y="24234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30449" y="263838"/>
            <a:ext cx="11027101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Phân tích Mã nguồn - Text thay thế vô nghĩa (Poor Alt Text)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5748" y="1453836"/>
            <a:ext cx="16695478" cy="119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Lỗi (Serious): Đã có code t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huộc tính alt cho ảnh, nhưng lập trình viên lại gán giá trị chung chung là alt="image" hoặc alt="banner". Điều này hoàn toàn vô nghĩa với người khiếm thị.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9237" y="2926635"/>
            <a:ext cx="13765929" cy="1789571"/>
          </a:xfrm>
          <a:custGeom>
            <a:avLst/>
            <a:gdLst/>
            <a:ahLst/>
            <a:cxnLst/>
            <a:rect r="r" b="b" t="t" l="l"/>
            <a:pathLst>
              <a:path h="1789571" w="13765929">
                <a:moveTo>
                  <a:pt x="0" y="0"/>
                </a:moveTo>
                <a:lnTo>
                  <a:pt x="13765930" y="0"/>
                </a:lnTo>
                <a:lnTo>
                  <a:pt x="13765930" y="1789571"/>
                </a:lnTo>
                <a:lnTo>
                  <a:pt x="0" y="17895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9237" y="5049581"/>
            <a:ext cx="14429332" cy="3084270"/>
          </a:xfrm>
          <a:custGeom>
            <a:avLst/>
            <a:gdLst/>
            <a:ahLst/>
            <a:cxnLst/>
            <a:rect r="r" b="b" t="t" l="l"/>
            <a:pathLst>
              <a:path h="3084270" w="14429332">
                <a:moveTo>
                  <a:pt x="0" y="0"/>
                </a:moveTo>
                <a:lnTo>
                  <a:pt x="14429332" y="0"/>
                </a:lnTo>
                <a:lnTo>
                  <a:pt x="14429332" y="3084269"/>
                </a:lnTo>
                <a:lnTo>
                  <a:pt x="0" y="30842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22133" y="263838"/>
            <a:ext cx="10243734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Phân tích</a:t>
            </a: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Mã nguồn - Sai cấu trúc phân cấp (Headings)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3861" y="1394545"/>
            <a:ext cx="17644139" cy="119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Lỗi (Moderate): Cấu trúc chuẩn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SEO và WCAG yêu cầu trang web phải bắt đầu bằng 1 thẻ &lt;h1&gt;. Tuy nhiên, mã nguồn Booksaw đã bỏ qua &lt;h1&gt; và dùng thẳng &lt;h2&gt;.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27840" y="3255874"/>
            <a:ext cx="8505785" cy="5768944"/>
          </a:xfrm>
          <a:custGeom>
            <a:avLst/>
            <a:gdLst/>
            <a:ahLst/>
            <a:cxnLst/>
            <a:rect r="r" b="b" t="t" l="l"/>
            <a:pathLst>
              <a:path h="5768944" w="8505785">
                <a:moveTo>
                  <a:pt x="0" y="0"/>
                </a:moveTo>
                <a:lnTo>
                  <a:pt x="8505785" y="0"/>
                </a:lnTo>
                <a:lnTo>
                  <a:pt x="8505785" y="5768944"/>
                </a:lnTo>
                <a:lnTo>
                  <a:pt x="0" y="5768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10110" y="429239"/>
            <a:ext cx="9067779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Phân tích</a:t>
            </a: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Mã nguồn - Sai giá trị ARIA (JS Logic)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18390" y="1411717"/>
            <a:ext cx="15940910" cy="119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Lỗi (Critical): Các thuộc tính ARIA bị gán sai kiểu dữ liệu. Theo báo cáo Lighthouse, aria-expanded bị gán sai giá trị.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77396" y="429239"/>
            <a:ext cx="6133207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Báo cáo Lỗi Mã Nguồn Tổng hợp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2952" y="1529954"/>
            <a:ext cx="17259300" cy="119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Tổng số: 83 điểm chạm code vi phạm (Được xác nhận chéo bằng phân tích tĩnh và quét tự động axe/Lighthouse).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2952" y="3129562"/>
            <a:ext cx="5170502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 loại can thiệp Code: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10813" y="4233848"/>
            <a:ext cx="16477187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 (12 lỗi): Bắt buộc bổ sung aria-label cho toàn bộ SVG icon, sửa lỗi sai cấu trúc thẻ.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10813" y="5057775"/>
            <a:ext cx="15938535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SERIOUS (67 lỗi): Phải viết lại giá trị alt cho hàng loạt thẻ &lt;img&gt; và sửa lại CSS màu #666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10813" y="5885836"/>
            <a:ext cx="11118312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MODERATE (4 lỗi): Cấu trúc lại thứ tự các thẻ &lt;h1&gt; đến &lt;h6&gt;.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19907" y="213980"/>
            <a:ext cx="6599465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Đề xuất Refactor Code (Khắc phục)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5452" y="1136740"/>
            <a:ext cx="16497096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Giải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pháp Fix Code: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90904" y="2060051"/>
            <a:ext cx="16497096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Thanh tìm kiếm: Bổ sung aria-label="Tìm kiếm sản phẩm" vào thẻ &lt;input&gt;.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90904" y="2983362"/>
            <a:ext cx="16497096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Giỏ hàng: Bổ sung aria-label="Giỏ hàng" vào thẻ &lt;a&gt; chứa icon SVG.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90904" y="4114069"/>
            <a:ext cx="16497096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Hình ảnh: Viết lại text mô tả chi tiết, ví dụ: alt="Sách The Wild Life".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037380"/>
            <a:ext cx="16497096" cy="119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học: Áp dụng Checklist Code Accessibility vào quy trình Code Review của team Dev trước khi deploy web.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DAHELl_9EQg</dc:identifier>
  <dcterms:modified xsi:type="dcterms:W3CDTF">2011-08-01T06:04:30Z</dcterms:modified>
  <cp:revision>1</cp:revision>
  <dc:title>Nội dung đoạn văn bản của bạn</dc:title>
</cp:coreProperties>
</file>